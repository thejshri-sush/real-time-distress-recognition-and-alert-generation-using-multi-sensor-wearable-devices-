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48" d="100"/>
          <a:sy n="48" d="100"/>
        </p:scale>
        <p:origin x="38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AD503-4C6C-4D94-99AA-613418563774}" type="datetimeFigureOut">
              <a:rPr lang="en-IN" smtClean="0"/>
              <a:t>21-04-2026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1E9F8-5AA2-46C1-8377-7D36A8228F3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51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2197" y="1842868"/>
            <a:ext cx="10424160" cy="3414932"/>
          </a:xfrm>
        </p:spPr>
        <p:txBody>
          <a:bodyPr/>
          <a:lstStyle>
            <a:lvl1pPr marL="0" indent="0" algn="l">
              <a:buNone/>
              <a:defRPr sz="2400" b="1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Paper Id: </a:t>
            </a:r>
          </a:p>
          <a:p>
            <a:r>
              <a:rPr lang="en-US" dirty="0"/>
              <a:t>Paper Title: </a:t>
            </a:r>
          </a:p>
          <a:p>
            <a:r>
              <a:rPr lang="en-US" dirty="0"/>
              <a:t>Presenting Author Name: </a:t>
            </a:r>
          </a:p>
          <a:p>
            <a:r>
              <a:rPr lang="en-US" dirty="0"/>
              <a:t>Designation:</a:t>
            </a:r>
          </a:p>
          <a:p>
            <a:r>
              <a:rPr lang="en-US" dirty="0"/>
              <a:t>Affiliation:</a:t>
            </a:r>
          </a:p>
          <a:p>
            <a:r>
              <a:rPr lang="en-US" dirty="0"/>
              <a:t>Track No.: </a:t>
            </a:r>
          </a:p>
          <a:p>
            <a:r>
              <a:rPr lang="en-US" dirty="0"/>
              <a:t>Session No.:</a:t>
            </a:r>
            <a:endParaRPr lang="en-IN" dirty="0"/>
          </a:p>
        </p:txBody>
      </p:sp>
      <p:sp>
        <p:nvSpPr>
          <p:cNvPr id="13" name="Rectangle: Rounded Corners 10">
            <a:extLst>
              <a:ext uri="{FF2B5EF4-FFF2-40B4-BE49-F238E27FC236}">
                <a16:creationId xmlns:a16="http://schemas.microsoft.com/office/drawing/2014/main" id="{F50ABD63-6C37-6D9B-30E6-A67D07A40230}"/>
              </a:ext>
            </a:extLst>
          </p:cNvPr>
          <p:cNvSpPr/>
          <p:nvPr userDrawn="1"/>
        </p:nvSpPr>
        <p:spPr>
          <a:xfrm>
            <a:off x="117098" y="947312"/>
            <a:ext cx="11951594" cy="281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International Conference on Innovations in Computational Intelligence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575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917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72572"/>
            <a:ext cx="9144000" cy="3085228"/>
          </a:xfrm>
        </p:spPr>
        <p:txBody>
          <a:bodyPr/>
          <a:lstStyle>
            <a:lvl1pPr marL="0" indent="0" algn="l">
              <a:buNone/>
              <a:defRPr sz="2400" b="1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0ABD63-6C37-6D9B-30E6-A67D07A40230}"/>
              </a:ext>
            </a:extLst>
          </p:cNvPr>
          <p:cNvSpPr/>
          <p:nvPr userDrawn="1"/>
        </p:nvSpPr>
        <p:spPr>
          <a:xfrm>
            <a:off x="117098" y="947312"/>
            <a:ext cx="11951594" cy="281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International Conference on Innovations in Computational Intelligence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2ECDAB-5D72-C82F-CF7E-8714D787527D}"/>
              </a:ext>
            </a:extLst>
          </p:cNvPr>
          <p:cNvSpPr/>
          <p:nvPr userDrawn="1"/>
        </p:nvSpPr>
        <p:spPr>
          <a:xfrm>
            <a:off x="0" y="6274191"/>
            <a:ext cx="12192000" cy="583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ICICI-2026                                                                                         Organized by Department of CSE(AI/AI&amp;ML) &amp; Department of CSIT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IEEE Conference Record No. 68867                                                        KIET (Deemed to Be University), Delhi-NCR, Ghaziabad, India</a:t>
            </a:r>
          </a:p>
        </p:txBody>
      </p:sp>
    </p:spTree>
    <p:extLst>
      <p:ext uri="{BB962C8B-B14F-4D97-AF65-F5344CB8AC3E}">
        <p14:creationId xmlns:p14="http://schemas.microsoft.com/office/powerpoint/2010/main" val="177908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22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49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23889"/>
            <a:ext cx="10515600" cy="4667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8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46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86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80159"/>
            <a:ext cx="3932237" cy="7772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80159"/>
            <a:ext cx="6172200" cy="4909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66424"/>
            <a:ext cx="3932237" cy="40233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139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31388"/>
            <a:ext cx="3932237" cy="777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47422" y="1463040"/>
            <a:ext cx="6172200" cy="45888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08628"/>
            <a:ext cx="3932237" cy="3843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381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7625" y="1326098"/>
            <a:ext cx="11268221" cy="3645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7625" y="1879069"/>
            <a:ext cx="11268221" cy="4297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Rectangle: Rounded Corners 11">
            <a:extLst>
              <a:ext uri="{FF2B5EF4-FFF2-40B4-BE49-F238E27FC236}">
                <a16:creationId xmlns:a16="http://schemas.microsoft.com/office/drawing/2014/main" id="{8C2ECDAB-5D72-C82F-CF7E-8714D787527D}"/>
              </a:ext>
            </a:extLst>
          </p:cNvPr>
          <p:cNvSpPr/>
          <p:nvPr userDrawn="1"/>
        </p:nvSpPr>
        <p:spPr>
          <a:xfrm>
            <a:off x="0" y="6274191"/>
            <a:ext cx="12192000" cy="583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baseline="0" dirty="0"/>
              <a:t>ICICI-2026                                                                                        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baseline="0" dirty="0"/>
              <a:t>IEEE Conference Record No. 68867                                                                                                                                       24-25 April, 2026                                       </a:t>
            </a:r>
            <a:endParaRPr lang="en-IN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822" y="79858"/>
            <a:ext cx="1838178" cy="6790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313" y="41823"/>
            <a:ext cx="2071164" cy="93175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6" y="69335"/>
            <a:ext cx="1867026" cy="689595"/>
          </a:xfrm>
          <a:prstGeom prst="rect">
            <a:avLst/>
          </a:prstGeom>
        </p:spPr>
      </p:pic>
      <p:sp>
        <p:nvSpPr>
          <p:cNvPr id="22" name="Rectangle: Rounded Corners 10">
            <a:extLst>
              <a:ext uri="{FF2B5EF4-FFF2-40B4-BE49-F238E27FC236}">
                <a16:creationId xmlns:a16="http://schemas.microsoft.com/office/drawing/2014/main" id="{F50ABD63-6C37-6D9B-30E6-A67D07A40230}"/>
              </a:ext>
            </a:extLst>
          </p:cNvPr>
          <p:cNvSpPr/>
          <p:nvPr userDrawn="1"/>
        </p:nvSpPr>
        <p:spPr>
          <a:xfrm>
            <a:off x="117098" y="947312"/>
            <a:ext cx="11951594" cy="281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International Conference on Innovations in Computational Intelligence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13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1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63" y="1694499"/>
            <a:ext cx="11774905" cy="43434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sz="2800" dirty="0"/>
              <a:t>Paper Id: 2422</a:t>
            </a:r>
            <a:br>
              <a:rPr lang="en-US" sz="2800" dirty="0"/>
            </a:br>
            <a:r>
              <a:rPr lang="en-US" sz="2800" dirty="0"/>
              <a:t>Paper Title: Real-Time Distress Recognition and Alert Generation Using Multi-Sensor Wearable Devices</a:t>
            </a:r>
            <a:br>
              <a:rPr lang="en-US" sz="2800" dirty="0"/>
            </a:br>
            <a:r>
              <a:rPr lang="en-US" sz="2800" dirty="0"/>
              <a:t>Author Name:</a:t>
            </a:r>
            <a:r>
              <a:rPr lang="en-IN" sz="2800" dirty="0"/>
              <a:t> Roshan L, Tamilarasi Rajamani, Dr. Manish Bhardwaj, Sridhar D, Thejashri S, Navya S</a:t>
            </a:r>
            <a:br>
              <a:rPr lang="en-US" sz="2000" dirty="0"/>
            </a:br>
            <a:r>
              <a:rPr lang="en-US" sz="2800" dirty="0"/>
              <a:t>Designation: Student </a:t>
            </a:r>
            <a:br>
              <a:rPr lang="en-US" sz="2800" dirty="0"/>
            </a:br>
            <a:r>
              <a:rPr lang="en-US" sz="2800" dirty="0"/>
              <a:t>Affiliation: Alliance University | PMC Tech</a:t>
            </a:r>
            <a:br>
              <a:rPr lang="en-US" sz="2800" dirty="0"/>
            </a:br>
            <a:r>
              <a:rPr lang="en-US" sz="2800" dirty="0"/>
              <a:t>Track No.: 4</a:t>
            </a:r>
            <a:br>
              <a:rPr lang="en-US" sz="2800" dirty="0"/>
            </a:br>
            <a:r>
              <a:rPr lang="en-US" sz="2800" dirty="0"/>
              <a:t>Session No.:17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7309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2197" y="1457325"/>
            <a:ext cx="10424160" cy="4755216"/>
          </a:xfrm>
        </p:spPr>
        <p:txBody>
          <a:bodyPr>
            <a:noAutofit/>
          </a:bodyPr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Problem Statement &amp; Research Gap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Proposed System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Methodology (System Workflow)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Methodology (AI Model &amp; Alert System)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Experimental Results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Results &amp; Discussion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02623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80E9B8-9A0C-3C8E-A497-1EB63AABF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625" y="1536893"/>
            <a:ext cx="11389154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accidents caused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fatigue and sudden medical emergencies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 a major global concern.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many cases, drivers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unable to respond or seek help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critical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solutions (camera-based / internet-dependent)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 in low-light and low-connectivity environments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physiological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leads to delayed detection of distress.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reliable, real-time, and autonomous safety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1156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Problem Statement &amp; Research Gap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3E41D-9B29-2913-B91C-D6FC4C5D8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624" y="2005583"/>
            <a:ext cx="11268221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fatigue and medical emergencies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hypoxia, cardiac events) can incapacitate drivers without warning.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intervention is often impossible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causing critical delays in emergency response.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Camera-based systems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unreliable in low light and cannot detect internal physiological changes.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Internet-dependent solutions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fail in tunnels, rural areas, or poor connectivity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typically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single-sensor inputs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leading to lower detection accuracy. </a:t>
            </a:r>
          </a:p>
        </p:txBody>
      </p:sp>
    </p:spTree>
    <p:extLst>
      <p:ext uri="{BB962C8B-B14F-4D97-AF65-F5344CB8AC3E}">
        <p14:creationId xmlns:p14="http://schemas.microsoft.com/office/powerpoint/2010/main" val="427597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2154-5A09-483B-97AD-A94805F2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E85D99A-79F4-7A3C-1B3A-700CA956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Proposed System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72D3B2-4C27-22FB-9790-54BE66CDAA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625" y="1629945"/>
            <a:ext cx="11268221" cy="40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AI-powered wearable smartwatch</a:t>
            </a:r>
            <a:r>
              <a:rPr lang="en-IN" sz="2400" dirty="0"/>
              <a:t> for real-time distress detection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Multi-sensor fusion:</a:t>
            </a:r>
            <a:r>
              <a:rPr lang="en-IN" sz="2400" dirty="0"/>
              <a:t> ECG, Heart Rate (HR), SpO₂, motion (IMU)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On-device AI (TinyML)</a:t>
            </a:r>
            <a:r>
              <a:rPr lang="en-IN" sz="2400" dirty="0"/>
              <a:t> using a lightweight </a:t>
            </a:r>
            <a:r>
              <a:rPr lang="en-IN" sz="2400" b="1" dirty="0"/>
              <a:t>1D-CNN</a:t>
            </a:r>
            <a:r>
              <a:rPr lang="en-IN" sz="2400" dirty="0"/>
              <a:t> on ESP32-S3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Fully offline operation</a:t>
            </a:r>
            <a:r>
              <a:rPr lang="en-IN" sz="2400" dirty="0"/>
              <a:t> — no internet dependency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Autonomous emergency alerting</a:t>
            </a:r>
            <a:r>
              <a:rPr lang="en-IN" sz="2400" dirty="0"/>
              <a:t> via GSM with </a:t>
            </a:r>
            <a:r>
              <a:rPr lang="en-IN" sz="2400" b="1" dirty="0"/>
              <a:t>GPS location + vital signs</a:t>
            </a:r>
            <a:r>
              <a:rPr lang="en-IN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Manual override:</a:t>
            </a:r>
            <a:r>
              <a:rPr lang="en-IN" sz="2400" dirty="0"/>
              <a:t> SOS button / voice trigger; </a:t>
            </a:r>
            <a:r>
              <a:rPr lang="en-IN" sz="2400" b="1" dirty="0"/>
              <a:t>10-minute audio buffer</a:t>
            </a:r>
            <a:r>
              <a:rPr lang="en-IN" sz="2400" dirty="0"/>
              <a:t> for context</a:t>
            </a:r>
          </a:p>
        </p:txBody>
      </p:sp>
    </p:spTree>
    <p:extLst>
      <p:ext uri="{BB962C8B-B14F-4D97-AF65-F5344CB8AC3E}">
        <p14:creationId xmlns:p14="http://schemas.microsoft.com/office/powerpoint/2010/main" val="6772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44E3C-0FC8-18F9-C3FC-C3E58CA5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7932232-DF1E-E926-FA22-65140ADA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System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4FA12B-C03B-0356-0C72-95223D6DC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1011" y="1910777"/>
            <a:ext cx="6853558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Layer: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ECG, Heart Rate (HR), SpO₂, Motion (IMU) collect real-time physiological &amp; movement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Layer: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ESP32-S3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data and runs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TinyML (1D-CNN model)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Layer: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Classifies user state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/ Drowsy / Crash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 Layer: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 module (SIM800L)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sends SMS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 location + health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0683CD-F40E-F65E-0FE7-EC74D1ADC2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582651" y="1888589"/>
            <a:ext cx="4023195" cy="340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0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A451-3EB7-3345-1A2E-85DF6B04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2D0057-EB7C-81B1-0C32-6F7FD58B8F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625" y="1932859"/>
            <a:ext cx="11613743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ESP32-S3 Microcontroller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central processing unit; runs firmware and on-device AI inference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TinyML (Tiny Machine Learning)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execution on embedded hardware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Lite (TFLite Micro)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deploys the trained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1D-CNN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in a lightweight format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1D-CNN (Convolutional Neural Network)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analyzes time-series signals (ECG, HR, SpO₂, motion) for state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MAX86150 (ECG, HR, SpO₂), BNO055 (IMU) — real-time physiological &amp; motion data acquisition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GSM (SIM800L) for SMS alerts; GPS for location tracking; BLE for low-power interfacing </a:t>
            </a:r>
          </a:p>
        </p:txBody>
      </p:sp>
    </p:spTree>
    <p:extLst>
      <p:ext uri="{BB962C8B-B14F-4D97-AF65-F5344CB8AC3E}">
        <p14:creationId xmlns:p14="http://schemas.microsoft.com/office/powerpoint/2010/main" val="271626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D147-8A3A-D252-00AF-96B665C1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Methodology – System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E2B184-ED75-D863-744F-4F0F9E06E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445" y="1879600"/>
            <a:ext cx="3209336" cy="429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1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75B7-A1B1-CA3F-82FF-41580646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67E2-CB48-E0ED-9946-A54FA1AF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Methodology – 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598E-952D-7B0C-146F-B8D38C331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626" y="1879069"/>
            <a:ext cx="10522880" cy="429789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Feature Extraction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Heart Rate (</a:t>
            </a:r>
            <a:r>
              <a:rPr lang="en-IN" b="1" dirty="0"/>
              <a:t>HR</a:t>
            </a:r>
            <a:r>
              <a:rPr lang="en-IN" dirty="0"/>
              <a:t>) and Heart Rate Variability (</a:t>
            </a:r>
            <a:r>
              <a:rPr lang="en-IN" b="1" dirty="0"/>
              <a:t>HRV</a:t>
            </a:r>
            <a:r>
              <a:rPr lang="en-IN" dirty="0"/>
              <a:t>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Blood Oxygen Level (</a:t>
            </a:r>
            <a:r>
              <a:rPr lang="en-IN" b="1" dirty="0"/>
              <a:t>SpO₂</a:t>
            </a:r>
            <a:r>
              <a:rPr lang="en-IN" dirty="0"/>
              <a:t>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Acceleration patterns (motion/impact detection) 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N" b="1" dirty="0"/>
              <a:t>Condition Monitoring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HR &lt; 50 or &gt; 130 BPM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SpO₂ &lt; 90%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Sudden acceleration (&gt; ±3g)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IN" b="1" dirty="0"/>
              <a:t>AI Trigger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Processed data passed to </a:t>
            </a:r>
            <a:r>
              <a:rPr lang="en-IN" b="1" dirty="0"/>
              <a:t>1D-CNN model</a:t>
            </a:r>
            <a:r>
              <a:rPr lang="en-IN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Combines multi-sensor inputs for final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791096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708B-7B83-B96B-8BC2-C3808E54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Methodology – AI Model &amp; Alert Mechanism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441BC-6681-C614-CDF0-408613514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625" y="2005262"/>
            <a:ext cx="4458964" cy="4297893"/>
          </a:xfrm>
        </p:spPr>
        <p:txBody>
          <a:bodyPr>
            <a:noAutofit/>
          </a:bodyPr>
          <a:lstStyle/>
          <a:p>
            <a:r>
              <a:rPr lang="en-US" sz="2400" b="1" dirty="0"/>
              <a:t>1. AI Model (1D-CNN)</a:t>
            </a: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Input: Processed sensor data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Architecture: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3 Convolution layers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2 Dense layers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Activation: ReLU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Output: Softmax classification </a:t>
            </a:r>
          </a:p>
          <a:p>
            <a:r>
              <a:rPr lang="en-US" sz="2400" b="1" dirty="0"/>
              <a:t>2. Classification Output</a:t>
            </a:r>
            <a:endParaRPr lang="en-US" sz="2400" dirty="0"/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Alert (Normal)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Drowsy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Crash / Distress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043EF-F146-3F56-A5DE-6B654DD6C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16" y="2005262"/>
            <a:ext cx="5614737" cy="368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72B6-7415-F81B-EF7D-ED80E6D22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Methodology – AI Model &amp; Alert Mechanism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3B1C-7951-644F-966A-FBD422D82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626" y="1879069"/>
            <a:ext cx="11068312" cy="4297893"/>
          </a:xfrm>
        </p:spPr>
        <p:txBody>
          <a:bodyPr numCol="2">
            <a:noAutofit/>
          </a:bodyPr>
          <a:lstStyle/>
          <a:p>
            <a:r>
              <a:rPr lang="en-IN" sz="2400" b="1" dirty="0"/>
              <a:t>3. Decision Logic</a:t>
            </a:r>
            <a:endParaRPr lang="en-IN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AI confirms abnormal condition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Continuous abnormal state (&gt;15 sec) → triggers alert </a:t>
            </a:r>
          </a:p>
          <a:p>
            <a:r>
              <a:rPr lang="en-IN" sz="2400" b="1" dirty="0"/>
              <a:t>4. Emergency Alert System</a:t>
            </a:r>
            <a:endParaRPr lang="en-IN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GSM module sends SMS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Includes: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GPS location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Health parameters (HR, SpO₂)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Retry mechanism (3 attempts)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Backup contact alert </a:t>
            </a:r>
          </a:p>
          <a:p>
            <a:r>
              <a:rPr lang="en-IN" sz="2400" b="1" dirty="0"/>
              <a:t>5. Additional Features</a:t>
            </a:r>
            <a:endParaRPr lang="en-IN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SOS button / voice trigger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000" dirty="0"/>
              <a:t>10-minute audio recording stored</a:t>
            </a:r>
          </a:p>
          <a:p>
            <a:pPr marL="457200" lvl="1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6120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970-61A3-0C87-D2A2-677040424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Experimental Results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00A37B-AC95-7557-4219-238B09FE1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810" b="19831"/>
          <a:stretch>
            <a:fillRect/>
          </a:stretch>
        </p:blipFill>
        <p:spPr>
          <a:xfrm>
            <a:off x="337625" y="1804736"/>
            <a:ext cx="5344271" cy="1852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7EAF-3CF4-3A06-AC2F-5B6ABD7D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45" b="14280"/>
          <a:stretch>
            <a:fillRect/>
          </a:stretch>
        </p:blipFill>
        <p:spPr>
          <a:xfrm>
            <a:off x="6095999" y="1804737"/>
            <a:ext cx="5033149" cy="1572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874372-FF11-2CD6-BD6C-F3B3084C22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0" b="18311"/>
          <a:stretch>
            <a:fillRect/>
          </a:stretch>
        </p:blipFill>
        <p:spPr>
          <a:xfrm>
            <a:off x="337625" y="4072228"/>
            <a:ext cx="5344271" cy="1852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FF203C-031E-EF27-F5AC-B8254BDA856B}"/>
              </a:ext>
            </a:extLst>
          </p:cNvPr>
          <p:cNvSpPr txBox="1"/>
          <p:nvPr/>
        </p:nvSpPr>
        <p:spPr>
          <a:xfrm>
            <a:off x="6095999" y="3429000"/>
            <a:ext cx="55098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Real-Time Outputs</a:t>
            </a:r>
          </a:p>
          <a:p>
            <a:r>
              <a:rPr lang="en-IN" dirty="0"/>
              <a:t>Displays </a:t>
            </a:r>
            <a:r>
              <a:rPr lang="en-IN" b="1" dirty="0"/>
              <a:t>HR, SpO₂, Motion</a:t>
            </a:r>
            <a:r>
              <a:rPr lang="en-IN" dirty="0"/>
              <a:t> </a:t>
            </a:r>
          </a:p>
          <a:p>
            <a:r>
              <a:rPr lang="en-IN" dirty="0"/>
              <a:t>AI classifies: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Alert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Drowsy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/>
              <a:t>Crash</a:t>
            </a:r>
            <a:r>
              <a:rPr lang="en-IN" dirty="0"/>
              <a:t> </a:t>
            </a:r>
          </a:p>
          <a:p>
            <a:r>
              <a:rPr lang="en-IN" b="1" dirty="0"/>
              <a:t>System Response</a:t>
            </a:r>
          </a:p>
          <a:p>
            <a:r>
              <a:rPr lang="en-IN" dirty="0"/>
              <a:t>Normal → </a:t>
            </a:r>
            <a:r>
              <a:rPr lang="en-IN" b="1" dirty="0"/>
              <a:t>System Stable</a:t>
            </a:r>
            <a:r>
              <a:rPr lang="en-IN" dirty="0"/>
              <a:t> </a:t>
            </a:r>
          </a:p>
          <a:p>
            <a:r>
              <a:rPr lang="en-IN" dirty="0"/>
              <a:t>Drowsy → </a:t>
            </a:r>
            <a:r>
              <a:rPr lang="en-IN" b="1" dirty="0"/>
              <a:t>Warning Alert</a:t>
            </a:r>
            <a:r>
              <a:rPr lang="en-IN" dirty="0"/>
              <a:t> </a:t>
            </a:r>
          </a:p>
          <a:p>
            <a:r>
              <a:rPr lang="en-IN" dirty="0"/>
              <a:t>Crash → </a:t>
            </a:r>
            <a:r>
              <a:rPr lang="en-IN" b="1" dirty="0"/>
              <a:t>Emergency SMS (GPS + Health Data)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148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Results &amp; Discussion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/>
              <a:t>Performance Metrics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Alert Detection Accuracy: </a:t>
            </a:r>
            <a:r>
              <a:rPr lang="en-IN" sz="2400" b="1" dirty="0"/>
              <a:t>95.2%</a:t>
            </a:r>
            <a:r>
              <a:rPr lang="en-IN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Drowsiness Detection Accuracy: </a:t>
            </a:r>
            <a:r>
              <a:rPr lang="en-IN" sz="2400" b="1" dirty="0"/>
              <a:t>93.4%</a:t>
            </a:r>
            <a:r>
              <a:rPr lang="en-IN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Crash Detection Accuracy: </a:t>
            </a:r>
            <a:r>
              <a:rPr lang="en-IN" sz="2400" b="1" dirty="0"/>
              <a:t>96.7%</a:t>
            </a:r>
            <a:r>
              <a:rPr lang="en-IN" sz="2400" dirty="0"/>
              <a:t> </a:t>
            </a:r>
          </a:p>
          <a:p>
            <a:r>
              <a:rPr lang="en-IN" sz="2400" b="1" dirty="0"/>
              <a:t>System Performance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Response Time: </a:t>
            </a:r>
            <a:r>
              <a:rPr lang="en-IN" sz="2400" b="1" dirty="0"/>
              <a:t>3–5 seconds</a:t>
            </a:r>
            <a:r>
              <a:rPr lang="en-IN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Inference Time: </a:t>
            </a:r>
            <a:r>
              <a:rPr lang="en-IN" sz="2400" b="1" dirty="0"/>
              <a:t>&lt; 200 ms</a:t>
            </a:r>
            <a:r>
              <a:rPr lang="en-IN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High Precision, Recall &amp; F1-Score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7D9C4-AAC6-51F3-8E59-D8E5B17CCB62}"/>
              </a:ext>
            </a:extLst>
          </p:cNvPr>
          <p:cNvSpPr txBox="1"/>
          <p:nvPr/>
        </p:nvSpPr>
        <p:spPr>
          <a:xfrm>
            <a:off x="6300537" y="3769895"/>
            <a:ext cx="5181600" cy="2108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EA1C63B-4FDE-B80C-7196-6C52465EF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690687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Operational Efficiency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) Battery Life: </a:t>
            </a:r>
            <a:r>
              <a:rPr lang="en-US" sz="2400" b="1" dirty="0"/>
              <a:t>~12 hours active</a:t>
            </a:r>
            <a:r>
              <a:rPr lang="en-US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Standby Time: </a:t>
            </a:r>
            <a:r>
              <a:rPr lang="en-US" sz="2400" b="1" dirty="0"/>
              <a:t>~24 hours</a:t>
            </a:r>
            <a:r>
              <a:rPr lang="en-US" sz="2400" dirty="0"/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Fully </a:t>
            </a:r>
            <a:r>
              <a:rPr lang="en-US" sz="2400" b="1" dirty="0"/>
              <a:t>offline operation</a:t>
            </a:r>
            <a:r>
              <a:rPr lang="en-US" sz="2400" dirty="0"/>
              <a:t> (no internet required</a:t>
            </a:r>
          </a:p>
          <a:p>
            <a:r>
              <a:rPr lang="en-US" sz="2400" b="1" dirty="0"/>
              <a:t>Discussion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Multi-sensor fusion improves accuracy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Reliable performance in real-world conditions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Minor false positives due to sudden movements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3145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Project Outcomes</a:t>
            </a:r>
            <a:endParaRPr lang="en-IN" sz="2000" dirty="0"/>
          </a:p>
          <a:p>
            <a:r>
              <a:rPr lang="en-IN" sz="2000" dirty="0"/>
              <a:t>Developed an </a:t>
            </a:r>
            <a:r>
              <a:rPr lang="en-IN" sz="2000" b="1" dirty="0"/>
              <a:t>AI-powered wearable smartwatch</a:t>
            </a:r>
            <a:r>
              <a:rPr lang="en-IN" sz="2000" dirty="0"/>
              <a:t> for real-time distress detection </a:t>
            </a:r>
          </a:p>
          <a:p>
            <a:r>
              <a:rPr lang="en-IN" sz="2000" dirty="0"/>
              <a:t>Achieved </a:t>
            </a:r>
            <a:r>
              <a:rPr lang="en-IN" sz="2000" b="1" dirty="0"/>
              <a:t>high accuracy (93–96%)</a:t>
            </a:r>
            <a:r>
              <a:rPr lang="en-IN" sz="2000" dirty="0"/>
              <a:t> across alert, drowsy, and crash classes </a:t>
            </a:r>
          </a:p>
          <a:p>
            <a:r>
              <a:rPr lang="en-IN" sz="2000" dirty="0"/>
              <a:t>Ensured </a:t>
            </a:r>
            <a:r>
              <a:rPr lang="en-IN" sz="2000" b="1" dirty="0"/>
              <a:t>real-time performance</a:t>
            </a:r>
            <a:r>
              <a:rPr lang="en-IN" sz="2000" dirty="0"/>
              <a:t> (inference &lt; 200 ms; alerts in 3–5 sec) </a:t>
            </a:r>
          </a:p>
          <a:p>
            <a:r>
              <a:rPr lang="en-IN" sz="2000" b="1" dirty="0"/>
              <a:t>System Capabilities</a:t>
            </a:r>
            <a:endParaRPr lang="en-IN" sz="2000" dirty="0"/>
          </a:p>
          <a:p>
            <a:r>
              <a:rPr lang="en-IN" sz="2000" b="1" dirty="0"/>
              <a:t>Multi-sensor fusion:</a:t>
            </a:r>
            <a:r>
              <a:rPr lang="en-IN" sz="2000" dirty="0"/>
              <a:t> ECG, HR, SpO₂, motion </a:t>
            </a:r>
          </a:p>
          <a:p>
            <a:r>
              <a:rPr lang="en-IN" sz="2000" b="1" dirty="0"/>
              <a:t>On-device AI (TinyML)</a:t>
            </a:r>
            <a:r>
              <a:rPr lang="en-IN" sz="2000" dirty="0"/>
              <a:t> on ESP32-S3 </a:t>
            </a:r>
          </a:p>
          <a:p>
            <a:r>
              <a:rPr lang="en-IN" sz="2000" b="1" dirty="0"/>
              <a:t>Fully offline operation</a:t>
            </a:r>
            <a:r>
              <a:rPr lang="en-IN" sz="2000" dirty="0"/>
              <a:t> (no internet dependency) </a:t>
            </a:r>
          </a:p>
          <a:p>
            <a:endParaRPr lang="en-IN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Impact</a:t>
            </a:r>
            <a:endParaRPr lang="en-IN" dirty="0"/>
          </a:p>
          <a:p>
            <a:r>
              <a:rPr lang="en-IN" b="1" dirty="0"/>
              <a:t>Autonomous emergency response</a:t>
            </a:r>
            <a:r>
              <a:rPr lang="en-IN" dirty="0"/>
              <a:t> with GSM + GPS </a:t>
            </a:r>
          </a:p>
          <a:p>
            <a:r>
              <a:rPr lang="en-IN" b="1" dirty="0"/>
              <a:t>Reduces response time</a:t>
            </a:r>
            <a:r>
              <a:rPr lang="en-IN" dirty="0"/>
              <a:t> in critical situations </a:t>
            </a:r>
          </a:p>
          <a:p>
            <a:r>
              <a:rPr lang="en-IN" dirty="0"/>
              <a:t>Reliable in </a:t>
            </a:r>
            <a:r>
              <a:rPr lang="en-IN" b="1" dirty="0"/>
              <a:t>low-connectivity environments</a:t>
            </a:r>
            <a:r>
              <a:rPr lang="en-IN" dirty="0"/>
              <a:t> (tunnels, rural roads) </a:t>
            </a:r>
          </a:p>
          <a:p>
            <a:r>
              <a:rPr lang="en-IN" b="1" dirty="0"/>
              <a:t>Future Scope</a:t>
            </a:r>
            <a:endParaRPr lang="en-IN" dirty="0"/>
          </a:p>
          <a:p>
            <a:r>
              <a:rPr lang="en-IN" b="1" dirty="0"/>
              <a:t>Personalized AI models</a:t>
            </a:r>
            <a:r>
              <a:rPr lang="en-IN" dirty="0"/>
              <a:t> per user </a:t>
            </a:r>
          </a:p>
          <a:p>
            <a:r>
              <a:rPr lang="en-IN" b="1" dirty="0"/>
              <a:t>Larger, diverse datasets</a:t>
            </a:r>
            <a:r>
              <a:rPr lang="en-IN" dirty="0"/>
              <a:t> for improved robustness </a:t>
            </a:r>
          </a:p>
          <a:p>
            <a:r>
              <a:rPr lang="en-IN" dirty="0"/>
              <a:t>Integration with </a:t>
            </a:r>
            <a:r>
              <a:rPr lang="en-IN" b="1" dirty="0"/>
              <a:t>emergency services / cloud APIs</a:t>
            </a:r>
            <a:r>
              <a:rPr lang="en-IN" dirty="0"/>
              <a:t> </a:t>
            </a:r>
          </a:p>
          <a:p>
            <a:r>
              <a:rPr lang="en-IN" dirty="0"/>
              <a:t>Enhanced </a:t>
            </a:r>
            <a:r>
              <a:rPr lang="en-IN" b="1" dirty="0"/>
              <a:t>privacy &amp; security (encryption)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02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7625" y="1879069"/>
            <a:ext cx="11473375" cy="3759731"/>
          </a:xfrm>
        </p:spPr>
        <p:txBody>
          <a:bodyPr>
            <a:no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P. Mahajan and A. Kaul, 'Enhanced cuffless blood pressure estimation using ECG and PPG signals: A hybrid approach with Windkessel, ARIMA, and LSTM', </a:t>
            </a:r>
            <a:r>
              <a:rPr lang="en-US" sz="1400" i="1" dirty="0"/>
              <a:t>Turkish Journal of Electrical Engineering and Computer Sciences</a:t>
            </a:r>
            <a:r>
              <a:rPr lang="en-US" sz="1400" dirty="0"/>
              <a:t>, vol. 33, no. 3, Art. no. 5, 2025, doi: 10.55730/1300-0632.4127. </a:t>
            </a:r>
            <a:endParaRPr lang="en-IN" sz="1400" dirty="0"/>
          </a:p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A. Arjomand, F. Li, and J. Kang, 'TransfoRhythm: A Transformer Architecture Conductive to Blood Pressure Estimation via Solo PPG Signal Capturing', </a:t>
            </a:r>
            <a:r>
              <a:rPr lang="en-US" sz="1400" i="1" dirty="0"/>
              <a:t>arXiv preprint arXiv:2404.15352</a:t>
            </a:r>
            <a:r>
              <a:rPr lang="en-US" sz="1400" dirty="0"/>
              <a:t>, 2024. </a:t>
            </a:r>
            <a:endParaRPr lang="en-IN" sz="1400" dirty="0"/>
          </a:p>
          <a:p>
            <a:pPr marL="514350" lvl="0" indent="-514350">
              <a:buFont typeface="+mj-lt"/>
              <a:buAutoNum type="arabicPeriod"/>
            </a:pPr>
            <a:r>
              <a:rPr lang="en-IN" sz="1400" dirty="0"/>
              <a:t>S. Díaz-Santos and P. Caballero-Gil, 'Drowsiness detection in drivers with a smartwatch', </a:t>
            </a:r>
            <a:r>
              <a:rPr lang="en-IN" sz="1400" i="1" dirty="0"/>
              <a:t>arXiv preprint arXiv:2210.04066</a:t>
            </a:r>
            <a:r>
              <a:rPr lang="en-IN" sz="1400" dirty="0"/>
              <a:t>, 2022.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R. Florez, F. Palomino-Quispe, R. J. Coaquira-Castillo, J. C. Herrera-Levano, T. Paixão, and A. B. Alvarez, "A CNN-Based Approach for Driver Drowsiness Detection by Real-Time Eye State Identification," </a:t>
            </a:r>
            <a:r>
              <a:rPr lang="en-US" sz="1400" i="1" dirty="0"/>
              <a:t>Applied Sciences</a:t>
            </a:r>
            <a:r>
              <a:rPr lang="en-US" sz="1400" dirty="0"/>
              <a:t>, vol. 13, no. 13, p. 7849, 2023, doi: 10.3390/app13137849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E. Civik and U. Yuzgec, "Real-time driver fatigue detection system with deep learning on a low-cost embedded system," </a:t>
            </a:r>
            <a:r>
              <a:rPr lang="en-US" sz="1400" i="1" dirty="0"/>
              <a:t>Microprocessors and Microsystems</a:t>
            </a:r>
            <a:r>
              <a:rPr lang="en-US" sz="1400" dirty="0"/>
              <a:t>, vol. 99, p. 104851, 2023, doi: 10.1016/j.micpro.2023.104851.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J.-K. Lain, C.-A. Wang, J.-H. Xu, and C.-W. Lee, "Development of an Improved Stacked U-Net Model for Cuffless Blood Pressure Estimation Based on PPG Signals," </a:t>
            </a:r>
            <a:r>
              <a:rPr lang="en-US" sz="1400" i="1" dirty="0"/>
              <a:t>IEEE Open Journal of Engineering in Medicine and Biology</a:t>
            </a:r>
            <a:r>
              <a:rPr lang="en-US" sz="1400" dirty="0"/>
              <a:t>, vol. 6, pp. 584–590, 2025, doi: 10.1109/OJEMB.2025.3624566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S. A. Noh, H. S. Kim, S. H. Kang, C. H. Yoon, T. J. Youn, and I. H. Chae, "History and evolution of blood pressure measurement," </a:t>
            </a:r>
            <a:r>
              <a:rPr lang="en-US" sz="1400" i="1" dirty="0"/>
              <a:t>Clinical Hypertension</a:t>
            </a:r>
            <a:r>
              <a:rPr lang="en-US" sz="1400" dirty="0"/>
              <a:t>, vol. 30, no. 1, p. 9, Apr. 2024, doi: 10.1186/s40885-024-00268-7.</a:t>
            </a:r>
            <a:endParaRPr lang="en-IN" sz="1400" dirty="0"/>
          </a:p>
          <a:p>
            <a:pPr marL="514350" indent="-514350">
              <a:buFont typeface="+mj-lt"/>
              <a:buAutoNum type="arabicPeriod"/>
            </a:pPr>
            <a:endParaRPr lang="en-IN" sz="1400" dirty="0"/>
          </a:p>
          <a:p>
            <a:pPr marL="514350" lvl="0" indent="-51435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780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1304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Wingdings</vt:lpstr>
      <vt:lpstr>Office Theme</vt:lpstr>
      <vt:lpstr>Paper Id: 2422 Paper Title: Real-Time Distress Recognition and Alert Generation Using Multi-Sensor Wearable Devices Author Name: Roshan L, Tamilarasi Rajamani, Dr. Manish Bhardwaj, Sridhar D, Thejashri S, Navya S Designation: Student  Affiliation: Alliance University | PMC Tech Track No.: 4 Session No.:17</vt:lpstr>
      <vt:lpstr>PowerPoint Presentation</vt:lpstr>
      <vt:lpstr>Introduction</vt:lpstr>
      <vt:lpstr>Problem Statement &amp; Research Gap</vt:lpstr>
      <vt:lpstr>Proposed System</vt:lpstr>
      <vt:lpstr>System Architecture</vt:lpstr>
      <vt:lpstr>Technologies Used</vt:lpstr>
      <vt:lpstr>Methodology – System Workflow</vt:lpstr>
      <vt:lpstr>Methodology – System Workflow</vt:lpstr>
      <vt:lpstr>Methodology – AI Model &amp; Alert Mechanism</vt:lpstr>
      <vt:lpstr>Methodology – AI Model &amp; Alert Mechanism</vt:lpstr>
      <vt:lpstr>Experimental Results </vt:lpstr>
      <vt:lpstr>Results &amp; Discussion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Roshan. L</cp:lastModifiedBy>
  <cp:revision>25</cp:revision>
  <dcterms:created xsi:type="dcterms:W3CDTF">2026-04-16T15:40:31Z</dcterms:created>
  <dcterms:modified xsi:type="dcterms:W3CDTF">2026-04-21T14:20:39Z</dcterms:modified>
</cp:coreProperties>
</file>